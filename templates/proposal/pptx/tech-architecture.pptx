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IEPILOT_MASTER">
    <p:bg>
      <p:bgPr>
        <a:solidFill>
          <a:srgbClr val="1A1F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65392"/>
            <a:ext cx="12192000" cy="54864"/>
          </a:xfrm>
          <a:prstGeom prst="rect">
            <a:avLst/>
          </a:prstGeom>
          <a:solidFill>
            <a:srgbClr val="4F6EF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6620256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ViePilot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0515600" y="6620256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2D314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4F6EF7"/>
          </a:solidFill>
          <a:ln/>
        </p:spPr>
      </p:sp>
      <p:sp>
        <p:nvSpPr>
          <p:cNvPr id="4" name="Shape 2"/>
          <p:cNvSpPr/>
          <p:nvPr/>
        </p:nvSpPr>
        <p:spPr>
          <a:xfrm>
            <a:off x="4937760" y="2560320"/>
            <a:ext cx="7040880" cy="45720"/>
          </a:xfrm>
          <a:prstGeom prst="rect">
            <a:avLst/>
          </a:prstGeom>
          <a:solidFill>
            <a:srgbClr val="4F6EF7"/>
          </a:solidFill>
          <a:ln/>
        </p:spPr>
      </p:sp>
      <p:sp>
        <p:nvSpPr>
          <p:cNvPr id="5" name="Text 3"/>
          <p:cNvSpPr/>
          <p:nvPr/>
        </p:nvSpPr>
        <p:spPr>
          <a:xfrm>
            <a:off x="5120640" y="457200"/>
            <a:ext cx="6766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F6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937760" y="1005840"/>
            <a:ext cx="70408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{{System Name}}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4937760" y="2743200"/>
            <a:ext cx="7040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{{One sentence: what problem this architecture solves at scale}}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937760" y="3749040"/>
            <a:ext cx="7040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Brief for {{Partner}} · {{Date}}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4572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4F6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5600" dirty="0"/>
          </a:p>
        </p:txBody>
      </p:sp>
      <p:sp>
        <p:nvSpPr>
          <p:cNvPr id="10" name="Text 8"/>
          <p:cNvSpPr/>
          <p:nvPr/>
        </p:nvSpPr>
        <p:spPr>
          <a:xfrm>
            <a:off x="365760" y="594360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ViePilot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F6EF7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12079224" cy="914400"/>
          </a:xfrm>
          <a:prstGeom prst="rect">
            <a:avLst/>
          </a:prstGeom>
          <a:solidFill>
            <a:srgbClr val="2D3142"/>
          </a:solidFill>
          <a:ln/>
        </p:spPr>
      </p:sp>
      <p:sp>
        <p:nvSpPr>
          <p:cNvPr id="4" name="Text 2"/>
          <p:cNvSpPr/>
          <p:nvPr/>
        </p:nvSpPr>
        <p:spPr>
          <a:xfrm>
            <a:off x="347472" y="109728"/>
            <a:ext cx="1161288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1430000" cy="5212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{{System purpose: "Enables X to do Y at Z scale"}}</a:t>
            </a:r>
            <a:endParaRPr lang="en-US" sz="1500" dirty="0"/>
          </a:p>
          <a:p>
            <a:pPr>
              <a:spcAft>
                <a:spcPts val="800"/>
              </a:spcAft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{{Key architectural decision + rationale}}</a:t>
            </a:r>
            <a:endParaRPr lang="en-US" sz="1500" dirty="0"/>
          </a:p>
          <a:p>
            <a:pPr>
              <a:spcAft>
                <a:spcPts val="800"/>
              </a:spcAft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{{Expected outcome: performance target, cost reduction, or reliability gain}}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F6EF7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12079224" cy="914400"/>
          </a:xfrm>
          <a:prstGeom prst="rect">
            <a:avLst/>
          </a:prstGeom>
          <a:solidFill>
            <a:srgbClr val="2D3142"/>
          </a:solidFill>
          <a:ln/>
        </p:spPr>
      </p:sp>
      <p:sp>
        <p:nvSpPr>
          <p:cNvPr id="4" name="Text 2"/>
          <p:cNvSpPr/>
          <p:nvPr/>
        </p:nvSpPr>
        <p:spPr>
          <a:xfrm>
            <a:off x="347472" y="109728"/>
            <a:ext cx="1161288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1430000" cy="5212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{{Current limitation: "The existing system cannot handle X because Y"}}</a:t>
            </a:r>
            <a:endParaRPr lang="en-US" sz="1500" dirty="0"/>
          </a:p>
          <a:p>
            <a:pPr>
              <a:spcAft>
                <a:spcPts val="800"/>
              </a:spcAft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{{Scale requirement: throughput, latency, or data volume target}}</a:t>
            </a:r>
            <a:endParaRPr lang="en-US" sz="1500" dirty="0"/>
          </a:p>
          <a:p>
            <a:pPr>
              <a:spcAft>
                <a:spcPts val="800"/>
              </a:spcAft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{{Constraint: budget, timeline, team size, or compliance requirement}}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F6EF7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12079224" cy="914400"/>
          </a:xfrm>
          <a:prstGeom prst="rect">
            <a:avLst/>
          </a:prstGeom>
          <a:solidFill>
            <a:srgbClr val="2D3142"/>
          </a:solidFill>
          <a:ln/>
        </p:spPr>
      </p:sp>
      <p:sp>
        <p:nvSpPr>
          <p:cNvPr id="4" name="Text 2"/>
          <p:cNvSpPr/>
          <p:nvPr/>
        </p:nvSpPr>
        <p:spPr>
          <a:xfrm>
            <a:off x="347472" y="109728"/>
            <a:ext cx="1161288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Overview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1430000" cy="5212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{{Layer 1 (e.g. Presentation)}} → {{Layer 2 (e.g. API Gateway)}} → {{Layer 3 (e.g. Services)}}</a:t>
            </a:r>
            <a:endParaRPr lang="en-US" sz="1500" dirty="0"/>
          </a:p>
          <a:p>
            <a:pPr>
              <a:spcAft>
                <a:spcPts val="800"/>
              </a:spcAft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{{Core architectural pattern: microservices / event-driven / serverless}}</a:t>
            </a:r>
            <a:endParaRPr lang="en-US" sz="1500" dirty="0"/>
          </a:p>
          <a:p>
            <a:pPr>
              <a:spcAft>
                <a:spcPts val="800"/>
              </a:spcAft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{{Key infrastructure: cloud provider, orchestration, data store}}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2D3142"/>
          </a:solidFill>
          <a:ln/>
        </p:spPr>
      </p:sp>
      <p:sp>
        <p:nvSpPr>
          <p:cNvPr id="3" name="Text 1"/>
          <p:cNvSpPr/>
          <p:nvPr/>
        </p:nvSpPr>
        <p:spPr>
          <a:xfrm>
            <a:off x="347472" y="109728"/>
            <a:ext cx="1161288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Breakdown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989320" y="1051560"/>
            <a:ext cx="36576" cy="5303520"/>
          </a:xfrm>
          <a:prstGeom prst="rect">
            <a:avLst/>
          </a:prstGeom>
          <a:solidFill>
            <a:srgbClr val="5A637A"/>
          </a:solidFill>
          <a:ln/>
        </p:spPr>
      </p:sp>
      <p:sp>
        <p:nvSpPr>
          <p:cNvPr id="5" name="Text 3"/>
          <p:cNvSpPr/>
          <p:nvPr/>
        </p:nvSpPr>
        <p:spPr>
          <a:xfrm>
            <a:off x="347472" y="105156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6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/ Client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47472" y="1554480"/>
            <a:ext cx="54864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{{Component A}} — {{responsibility}}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{{Component B}} — {{responsibility}}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{{State management: approach}}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309360" y="105156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6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/ Services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0" y="1554480"/>
            <a:ext cx="54864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{{Service X}} — {{responsibility}}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{{Service Y}} — {{responsibility}}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{{Data layer: type + rationale}}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F6EF7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12079224" cy="914400"/>
          </a:xfrm>
          <a:prstGeom prst="rect">
            <a:avLst/>
          </a:prstGeom>
          <a:solidFill>
            <a:srgbClr val="2D3142"/>
          </a:solidFill>
          <a:ln/>
        </p:spPr>
      </p:sp>
      <p:sp>
        <p:nvSpPr>
          <p:cNvPr id="4" name="Text 2"/>
          <p:cNvSpPr/>
          <p:nvPr/>
        </p:nvSpPr>
        <p:spPr>
          <a:xfrm>
            <a:off x="347472" y="109728"/>
            <a:ext cx="1161288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Flow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1430000" cy="5212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{{Source}} → {{Processing step 1}} → {{Processing step 2}}</a:t>
            </a:r>
            <a:endParaRPr lang="en-US" sz="1500" dirty="0"/>
          </a:p>
          <a:p>
            <a:pPr>
              <a:spcAft>
                <a:spcPts val="800"/>
              </a:spcAft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Storage: {{What is persisted, where, and why}}</a:t>
            </a:r>
            <a:endParaRPr lang="en-US" sz="1500" dirty="0"/>
          </a:p>
          <a:p>
            <a:pPr>
              <a:spcAft>
                <a:spcPts val="800"/>
              </a:spcAft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{{Consumers / downstream systems / APIs exposed}}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F6EF7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12079224" cy="914400"/>
          </a:xfrm>
          <a:prstGeom prst="rect">
            <a:avLst/>
          </a:prstGeom>
          <a:solidFill>
            <a:srgbClr val="2D3142"/>
          </a:solidFill>
          <a:ln/>
        </p:spPr>
      </p:sp>
      <p:sp>
        <p:nvSpPr>
          <p:cNvPr id="4" name="Text 2"/>
          <p:cNvSpPr/>
          <p:nvPr/>
        </p:nvSpPr>
        <p:spPr>
          <a:xfrm>
            <a:off x="347472" y="109728"/>
            <a:ext cx="1161288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1430000" cy="5212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Frontend: {{technologies + version}}</a:t>
            </a:r>
            <a:endParaRPr lang="en-US" sz="1500" dirty="0"/>
          </a:p>
          <a:p>
            <a:pPr>
              <a:spcAft>
                <a:spcPts val="800"/>
              </a:spcAft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Backend: {{technologies + version}}</a:t>
            </a:r>
            <a:endParaRPr lang="en-US" sz="1500" dirty="0"/>
          </a:p>
          <a:p>
            <a:pPr>
              <a:spcAft>
                <a:spcPts val="800"/>
              </a:spcAft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Infrastructure: {{cloud + container + CI/CD}}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2D3142"/>
          </a:solidFill>
          <a:ln/>
        </p:spPr>
      </p:sp>
      <p:sp>
        <p:nvSpPr>
          <p:cNvPr id="3" name="Text 1"/>
          <p:cNvSpPr/>
          <p:nvPr/>
        </p:nvSpPr>
        <p:spPr>
          <a:xfrm>
            <a:off x="347472" y="109728"/>
            <a:ext cx="1161288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Scalability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989320" y="1051560"/>
            <a:ext cx="36576" cy="5303520"/>
          </a:xfrm>
          <a:prstGeom prst="rect">
            <a:avLst/>
          </a:prstGeom>
          <a:solidFill>
            <a:srgbClr val="5A637A"/>
          </a:solidFill>
          <a:ln/>
        </p:spPr>
      </p:sp>
      <p:sp>
        <p:nvSpPr>
          <p:cNvPr id="5" name="Text 3"/>
          <p:cNvSpPr/>
          <p:nvPr/>
        </p:nvSpPr>
        <p:spPr>
          <a:xfrm>
            <a:off x="347472" y="105156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6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47472" y="1554480"/>
            <a:ext cx="54864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Auth: {{OAuth2 / JWT / RBAC}}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Encryption: {{at rest + in transit}}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Compliance: {{SOC2 / GDPR / HIPAA}}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309360" y="105156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6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0" y="1554480"/>
            <a:ext cx="54864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Scale-out: {{horizontal strategy}}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target: {{X req/sec}}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Bottleneck mitigation: {{caching / queue}}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2D3142"/>
          </a:solidFill>
          <a:ln/>
        </p:spPr>
      </p:sp>
      <p:sp>
        <p:nvSpPr>
          <p:cNvPr id="3" name="Text 1"/>
          <p:cNvSpPr/>
          <p:nvPr/>
        </p:nvSpPr>
        <p:spPr>
          <a:xfrm>
            <a:off x="347472" y="109728"/>
            <a:ext cx="1161288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Targets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41198" y="1463040"/>
            <a:ext cx="3474720" cy="2926080"/>
          </a:xfrm>
          <a:prstGeom prst="rect">
            <a:avLst/>
          </a:prstGeom>
          <a:solidFill>
            <a:srgbClr val="2D3142"/>
          </a:solidFill>
          <a:ln w="19050">
            <a:solidFill>
              <a:srgbClr val="4F6EF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41198" y="1645920"/>
            <a:ext cx="3474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F6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&lt;{{N}}ms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41198" y="2926080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Latency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41198" y="34290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response time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57116" y="1463040"/>
            <a:ext cx="3474720" cy="2926080"/>
          </a:xfrm>
          <a:prstGeom prst="rect">
            <a:avLst/>
          </a:prstGeom>
          <a:solidFill>
            <a:srgbClr val="2D3142"/>
          </a:solidFill>
          <a:ln w="19050">
            <a:solidFill>
              <a:srgbClr val="4F6E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57116" y="1645920"/>
            <a:ext cx="3474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F6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{{X}}K/s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357116" y="2926080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357116" y="34290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per second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273034" y="1463040"/>
            <a:ext cx="3474720" cy="2926080"/>
          </a:xfrm>
          <a:prstGeom prst="rect">
            <a:avLst/>
          </a:prstGeom>
          <a:solidFill>
            <a:srgbClr val="2D3142"/>
          </a:solidFill>
          <a:ln w="19050">
            <a:solidFill>
              <a:srgbClr val="4F6EF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73034" y="1645920"/>
            <a:ext cx="3474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F6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99.{{N}}%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73034" y="2926080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73034" y="34290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uptime SLA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F6EF7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12079224" cy="914400"/>
          </a:xfrm>
          <a:prstGeom prst="rect">
            <a:avLst/>
          </a:prstGeom>
          <a:solidFill>
            <a:srgbClr val="2D3142"/>
          </a:solidFill>
          <a:ln/>
        </p:spPr>
      </p:sp>
      <p:sp>
        <p:nvSpPr>
          <p:cNvPr id="4" name="Text 2"/>
          <p:cNvSpPr/>
          <p:nvPr/>
        </p:nvSpPr>
        <p:spPr>
          <a:xfrm>
            <a:off x="347472" y="109728"/>
            <a:ext cx="1161288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Points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1430000" cy="5212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{{External API 1}}: {{protocol, frequency, SLA expectation}}</a:t>
            </a:r>
            <a:endParaRPr lang="en-US" sz="1500" dirty="0"/>
          </a:p>
          <a:p>
            <a:pPr>
              <a:spcAft>
                <a:spcPts val="800"/>
              </a:spcAft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{{Internal service}}: {{sync/async, data contract}}</a:t>
            </a:r>
            <a:endParaRPr lang="en-US" sz="1500" dirty="0"/>
          </a:p>
          <a:p>
            <a:pPr>
              <a:spcAft>
                <a:spcPts val="800"/>
              </a:spcAft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{{Third-party tool}}: {{purpose + dependency risk}}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F6EF7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12079224" cy="914400"/>
          </a:xfrm>
          <a:prstGeom prst="rect">
            <a:avLst/>
          </a:prstGeom>
          <a:solidFill>
            <a:srgbClr val="2D3142"/>
          </a:solidFill>
          <a:ln/>
        </p:spPr>
      </p:sp>
      <p:sp>
        <p:nvSpPr>
          <p:cNvPr id="4" name="Text 2"/>
          <p:cNvSpPr/>
          <p:nvPr/>
        </p:nvSpPr>
        <p:spPr>
          <a:xfrm>
            <a:off x="347472" y="109728"/>
            <a:ext cx="1161288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Roadmap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1430000" cy="5212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1–2: {{Foundation — infra, CI/CD, auth}}</a:t>
            </a:r>
            <a:endParaRPr lang="en-US" sz="1500" dirty="0"/>
          </a:p>
          <a:p>
            <a:pPr>
              <a:spcAft>
                <a:spcPts val="800"/>
              </a:spcAft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3–5: {{Core services — {{key features}}}}</a:t>
            </a:r>
            <a:endParaRPr lang="en-US" sz="1500" dirty="0"/>
          </a:p>
          <a:p>
            <a:pPr>
              <a:spcAft>
                <a:spcPts val="800"/>
              </a:spcAft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6–7: {{Integration, load testing, hardening}}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D314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137160"/>
          </a:xfrm>
          <a:prstGeom prst="rect">
            <a:avLst/>
          </a:prstGeom>
          <a:solidFill>
            <a:srgbClr val="4F6EF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720840"/>
            <a:ext cx="12192000" cy="137160"/>
          </a:xfrm>
          <a:prstGeom prst="rect">
            <a:avLst/>
          </a:prstGeom>
          <a:solidFill>
            <a:srgbClr val="4F6EF7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280160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4F6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1920240"/>
            <a:ext cx="10424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{{Questions? Let's schedule a technical deep-dive.}}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114800" y="3931920"/>
            <a:ext cx="4023360" cy="36576"/>
          </a:xfrm>
          <a:prstGeom prst="rect">
            <a:avLst/>
          </a:prstGeom>
          <a:solidFill>
            <a:srgbClr val="4F6EF7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160520"/>
            <a:ext cx="11338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engineering@example.com  ·  GitHub: github.com/{{org}}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035040"/>
            <a:ext cx="11338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by ViePilot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2026-04-11T02:56:42Z</dcterms:created>
  <dcterms:modified xsi:type="dcterms:W3CDTF">2026-04-11T02:56:42Z</dcterms:modified>
</cp:coreProperties>
</file>